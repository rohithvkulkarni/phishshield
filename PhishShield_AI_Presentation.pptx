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ackground_1772189963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Calibri"/>
              </a:defRPr>
            </a:pPr>
            <a:r>
              <a:t>PHISHSHIELD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Real-Time Adaptive Phishing Detection &amp; Prevention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47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F"/>
                </a:solidFill>
                <a:latin typeface="Calibri"/>
              </a:defRPr>
            </a:pPr>
            <a:r>
              <a:t>Powered by Machine Learning  •  Browser Extension  •  Real-Time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F"/>
                </a:solidFill>
                <a:latin typeface="Calibri"/>
              </a:defRPr>
            </a:pPr>
            <a:r>
              <a:t>Major Project Presentation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8288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3.4 Billion+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F"/>
                </a:solidFill>
                <a:latin typeface="Calibri"/>
              </a:defRPr>
            </a:pPr>
            <a:r>
              <a:t>Phishing emails sent</a:t>
            </a:r>
            <a:br/>
            <a:r>
              <a:t>daily worldwide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18288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Calibri"/>
              </a:defRPr>
            </a:pPr>
            <a:r>
              <a:t>$17,700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F"/>
                </a:solidFill>
                <a:latin typeface="Calibri"/>
              </a:defRPr>
            </a:pPr>
            <a:r>
              <a:t>Average cost per minute</a:t>
            </a:r>
            <a:br/>
            <a:r>
              <a:t>of a phishing attack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18288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F"/>
                </a:solidFill>
                <a:latin typeface="Calibri"/>
              </a:defRPr>
            </a:pPr>
            <a:r>
              <a:t>Organizations experienced</a:t>
            </a:r>
            <a:br/>
            <a:r>
              <a:t>phishing in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560320" cy="18288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F"/>
                </a:solidFill>
                <a:latin typeface="Calibri"/>
              </a:defRPr>
            </a:pPr>
            <a:r>
              <a:t>Data breaches caused</a:t>
            </a:r>
            <a:br/>
            <a:r>
              <a:t>by phishing attacks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ECF"/>
                </a:solidFill>
                <a:latin typeface="Calibri"/>
              </a:defRPr>
            </a:pPr>
            <a:r>
              <a:t>⚡  Traditional blacklist-based detection is reactive and cannot detect zero-day phishing URLs</a:t>
            </a:r>
          </a:p>
          <a:p>
            <a:pPr>
              <a:spcAft>
                <a:spcPts val="1000"/>
              </a:spcAft>
              <a:defRPr sz="1500">
                <a:solidFill>
                  <a:srgbClr val="B0BECF"/>
                </a:solidFill>
                <a:latin typeface="Calibri"/>
              </a:defRPr>
            </a:pPr>
            <a:r>
              <a:t>🔗  Attackers use sophisticated techniques like typosquatting, homograph attacks, and URL obfuscation</a:t>
            </a:r>
          </a:p>
          <a:p>
            <a:pPr>
              <a:spcAft>
                <a:spcPts val="1000"/>
              </a:spcAft>
              <a:defRPr sz="1500">
                <a:solidFill>
                  <a:srgbClr val="B0BECF"/>
                </a:solidFill>
                <a:latin typeface="Calibri"/>
              </a:defRPr>
            </a:pPr>
            <a:r>
              <a:t>🕔  Existing solutions have significant lag between URL creation and blacklist inclusion</a:t>
            </a:r>
          </a:p>
          <a:p>
            <a:pPr>
              <a:spcAft>
                <a:spcPts val="1000"/>
              </a:spcAft>
              <a:defRPr sz="1500">
                <a:solidFill>
                  <a:srgbClr val="B0BECF"/>
                </a:solidFill>
                <a:latin typeface="Calibri"/>
              </a:defRPr>
            </a:pPr>
            <a:r>
              <a:t>📱  Users lack real-time, in-browser protection with explainable threat warnings</a:t>
            </a:r>
          </a:p>
          <a:p>
            <a:pPr>
              <a:spcAft>
                <a:spcPts val="1000"/>
              </a:spcAft>
              <a:defRPr sz="1500">
                <a:solidFill>
                  <a:srgbClr val="B0BECF"/>
                </a:solidFill>
                <a:latin typeface="Calibri"/>
              </a:defRPr>
            </a:pPr>
            <a:r>
              <a:t>🧠  Need for an intelligent system that adapts to evolving phishing strategies using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ML-Powered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Develop a machine learning model using ensemble methods</a:t>
            </a:r>
            <a:br/>
            <a:r>
              <a:t>(Random Forest, XGBoost, Gradient Boosting) to classify</a:t>
            </a:r>
            <a:br/>
            <a:r>
              <a:t>URLs as phishing or legitimate with high accuracy.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Comprehensive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Extract 30+ URL-based features including lexical analysis,</a:t>
            </a:r>
            <a:br/>
            <a:r>
              <a:t>entropy calculation, structural patterns, typosquatting</a:t>
            </a:r>
            <a:br/>
            <a:r>
              <a:t>detection, and homograph attack identification.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Browser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Build a Chrome/Firefox MV3 browser extension that</a:t>
            </a:r>
            <a:br/>
            <a:r>
              <a:t>intercepts navigation and blocks phishing URLs before</a:t>
            </a:r>
            <a:br/>
            <a:r>
              <a:t>the user reaches the malicious page.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62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 Dashboard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97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Create a Next.js admin dashboard for monitoring scan</a:t>
            </a:r>
            <a:br/>
            <a:r>
              <a:t>history, threat statistics, whitelist/blacklist management,</a:t>
            </a:r>
            <a:br/>
            <a:r>
              <a:t>and real-time analytics.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Explainable AI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03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Provide human-readable reasons for each detection</a:t>
            </a:r>
            <a:br/>
            <a:r>
              <a:t>(e.g., suspicious TLD, typosquatting, IP-based URL)</a:t>
            </a:r>
            <a:br/>
            <a:r>
              <a:t>so users understand why a URL was flagged.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ology_flow_1772189940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4480560"/>
            <a:ext cx="2148840" cy="201168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45720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URL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F"/>
                </a:solidFill>
                <a:latin typeface="Calibri"/>
              </a:defRPr>
            </a:pPr>
            <a:r>
              <a:t>User navigates to a URL;</a:t>
            </a:r>
            <a:br/>
            <a:r>
              <a:t>the browser extension</a:t>
            </a:r>
            <a:br/>
            <a:r>
              <a:t>intercepts the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4480560"/>
            <a:ext cx="2148840" cy="201168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39" y="4572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5486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F"/>
                </a:solidFill>
                <a:latin typeface="Calibri"/>
              </a:defRPr>
            </a:pPr>
            <a:r>
              <a:t>30+ features extracted:</a:t>
            </a:r>
            <a:br/>
            <a:r>
              <a:t>URL length, entropy, TLD,</a:t>
            </a:r>
            <a:br/>
            <a:r>
              <a:t>typosquatting signals, etc.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480560"/>
            <a:ext cx="2148840" cy="201168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0" y="4572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5486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F"/>
                </a:solidFill>
                <a:latin typeface="Calibri"/>
              </a:defRPr>
            </a:pPr>
            <a:r>
              <a:t>Ensemble models (RF,</a:t>
            </a:r>
            <a:br/>
            <a:r>
              <a:t>XGBoost, GB) predict</a:t>
            </a:r>
            <a:br/>
            <a:r>
              <a:t>phishing probability.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4480560"/>
            <a:ext cx="2148840" cy="201168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83879" y="457200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F"/>
                </a:solidFill>
                <a:latin typeface="Calibri"/>
              </a:defRPr>
            </a:pPr>
            <a:r>
              <a:t>Score 0.0–1.0 generated;</a:t>
            </a:r>
            <a:br/>
            <a:r>
              <a:t>threshold at 0.60 for</a:t>
            </a:r>
            <a:br/>
            <a:r>
              <a:t>phishing classification.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4480560"/>
            <a:ext cx="2148840" cy="201168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45720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Action &amp;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5486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F"/>
                </a:solidFill>
                <a:latin typeface="Calibri"/>
              </a:defRPr>
            </a:pPr>
            <a:r>
              <a:t>URL blocked/allowed;</a:t>
            </a:r>
            <a:br/>
            <a:r>
              <a:t>reasons displayed;</a:t>
            </a:r>
            <a:br/>
            <a:r>
              <a:t>result stored in DB.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PROPOSED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diagram_17721899222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A7"/>
                </a:solidFill>
                <a:latin typeface="Calibri"/>
              </a:defRPr>
            </a:pPr>
            <a:r>
              <a:t>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Chrome MV3 extension intercepts</a:t>
            </a:r>
            <a:br/>
            <a:r>
              <a:t>navigation events, sends URLs to</a:t>
            </a:r>
            <a:br/>
            <a:r>
              <a:t>backend API, caches results, and</a:t>
            </a:r>
            <a:br/>
            <a:r>
              <a:t>blocks malicious pages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High-performance Python backend</a:t>
            </a:r>
            <a:br/>
            <a:r>
              <a:t>with RESTful API endpoints for</a:t>
            </a:r>
            <a:br/>
            <a:r>
              <a:t>scoring, feedback, statistics, and</a:t>
            </a:r>
            <a:br/>
            <a:r>
              <a:t>whitelist/blacklist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Ensemble ML models (Random Forest,</a:t>
            </a:r>
            <a:br/>
            <a:r>
              <a:t>XGBoost, Gradient Boosting) trained</a:t>
            </a:r>
            <a:br/>
            <a:r>
              <a:t>on URL features. Includes heuristic</a:t>
            </a:r>
            <a:br/>
            <a:r>
              <a:t>fallback for robustness.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Next.js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Admin panel for viewing scan history,</a:t>
            </a:r>
            <a:br/>
            <a:r>
              <a:t>threat analytics, managing user</a:t>
            </a:r>
            <a:br/>
            <a:r>
              <a:t>whitelists/blacklists, and monitoring</a:t>
            </a:r>
            <a:br/>
            <a:r>
              <a:t>system health.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2336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Calibri"/>
              </a:defRPr>
            </a:pPr>
            <a:r>
              <a:t>Playwright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Headless browser sandbox for deep</a:t>
            </a:r>
            <a:br/>
            <a:r>
              <a:t>URL analysis: screenshot capture,</a:t>
            </a:r>
            <a:br/>
            <a:r>
              <a:t>login form detection, and external</a:t>
            </a:r>
            <a:br/>
            <a:r>
              <a:t>resource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023360"/>
            <a:ext cx="3566160" cy="237744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SQLite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F"/>
                </a:solidFill>
                <a:latin typeface="Calibri"/>
              </a:defRPr>
            </a:pPr>
            <a:r>
              <a:t>Persistent storage for scan results,</a:t>
            </a:r>
            <a:br/>
            <a:r>
              <a:t>user lists, feedback data, and</a:t>
            </a:r>
            <a:br/>
            <a:r>
              <a:t>statistics. Uses SQLAlchemy ORM</a:t>
            </a:r>
            <a:br/>
            <a:r>
              <a:t>for database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ML MODEL &amp;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Feature Categories (30+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Length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920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URL length, domain length, path length,</a:t>
            </a:r>
            <a:br/>
            <a:r>
              <a:t>query length, domain-URL ratio, path-URL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Statistical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Shannon entropy (URL, domain, path),</a:t>
            </a:r>
            <a:br/>
            <a:r>
              <a:t>randomness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Structural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474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Subdomain count, dot count, dash count,</a:t>
            </a:r>
            <a:br/>
            <a:r>
              <a:t>path depth, query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Character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51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Digit ratio, letter ratio, special char ratio,</a:t>
            </a:r>
            <a:br/>
            <a:r>
              <a:t>uppercase ratio, vowel/consonant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Pattern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029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IP address check, typosquatting, homograph</a:t>
            </a:r>
            <a:br/>
            <a:r>
              <a:t>attack, URL shortener, @ symbol, redirects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806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HTTPS usage, encoded chars, HTTP-in-path,</a:t>
            </a:r>
            <a:br/>
            <a:r>
              <a:t>HTTPS token in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Model Comparison &amp;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920240"/>
            <a:ext cx="5029200" cy="438912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Models Evaluated: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▸ 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200 trees, max_depth=20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Calibri"/>
              </a:defRPr>
            </a:pPr>
            <a:r>
              <a:t>▸ Gradient 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150 estimators, lr=0.1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0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▸ 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40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200 estimators, lr=0.1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80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480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F"/>
                </a:solidFill>
                <a:latin typeface="Calibri"/>
              </a:defRPr>
            </a:pPr>
            <a:r>
              <a:t>200 estimators, 31 leaves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Training Pipeline: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206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ECF"/>
                </a:solidFill>
                <a:latin typeface="Calibri"/>
              </a:defRPr>
            </a:pPr>
            <a:r>
              <a:t>• Dataset → Feature Extraction → StandardScaler</a:t>
            </a:r>
          </a:p>
          <a:p>
            <a:pPr>
              <a:spcAft>
                <a:spcPts val="400"/>
              </a:spcAft>
              <a:defRPr sz="1100">
                <a:solidFill>
                  <a:srgbClr val="B0BECF"/>
                </a:solidFill>
                <a:latin typeface="Calibri"/>
              </a:defRPr>
            </a:pPr>
            <a:r>
              <a:t>• 80/20 stratified train-test split</a:t>
            </a:r>
          </a:p>
          <a:p>
            <a:pPr>
              <a:spcAft>
                <a:spcPts val="400"/>
              </a:spcAft>
              <a:defRPr sz="1100">
                <a:solidFill>
                  <a:srgbClr val="B0BECF"/>
                </a:solidFill>
                <a:latin typeface="Calibri"/>
              </a:defRPr>
            </a:pPr>
            <a:r>
              <a:t>• 5-fold stratified cross-validation</a:t>
            </a:r>
          </a:p>
          <a:p>
            <a:pPr>
              <a:spcAft>
                <a:spcPts val="400"/>
              </a:spcAft>
              <a:defRPr sz="1100">
                <a:solidFill>
                  <a:srgbClr val="B0BECF"/>
                </a:solidFill>
                <a:latin typeface="Calibri"/>
              </a:defRPr>
            </a:pPr>
            <a:r>
              <a:t>• Best model selected by F1-Score</a:t>
            </a:r>
          </a:p>
          <a:p>
            <a:pPr>
              <a:spcAft>
                <a:spcPts val="400"/>
              </a:spcAft>
              <a:defRPr sz="1100">
                <a:solidFill>
                  <a:srgbClr val="B0BECF"/>
                </a:solidFill>
                <a:latin typeface="Calibri"/>
              </a:defRPr>
            </a:pPr>
            <a:r>
              <a:t>• Metrics: Accuracy, Precision, Recall, 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19456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Weeks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Research &amp; Data</a:t>
            </a:r>
            <a:br/>
            <a: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Literature survey on</a:t>
            </a:r>
            <a:br/>
            <a:r>
              <a:t>phishing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94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URL dataset collection</a:t>
            </a:r>
            <a:br/>
            <a:r>
              <a:t>(phishing + legitimate)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Study of ML algorithms</a:t>
            </a:r>
            <a:br/>
            <a:r>
              <a:t>for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349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Technology stack</a:t>
            </a:r>
            <a:br/>
            <a:r>
              <a:t>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463040"/>
            <a:ext cx="21945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Weeks 4-7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  <a:br/>
            <a:r>
              <a:t>&amp; Model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Design 30+ URL-based</a:t>
            </a:r>
            <a:br/>
            <a: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199" y="3794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Implement Feature</a:t>
            </a:r>
            <a:br/>
            <a:r>
              <a:t>Extractor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199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Train &amp; compare</a:t>
            </a:r>
            <a:br/>
            <a:r>
              <a:t>4 ML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199" y="5349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Model optimization</a:t>
            </a:r>
            <a:br/>
            <a:r>
              <a:t>&amp; selection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5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59" y="1463040"/>
            <a:ext cx="219456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19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Weeks 8-11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1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Backend &amp; API</a:t>
            </a:r>
            <a:br/>
            <a:r>
              <a:t>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FastAPI backend with</a:t>
            </a:r>
            <a:br/>
            <a:r>
              <a:t>RESTful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19" y="3794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Score, Feedback, Stats,</a:t>
            </a:r>
            <a:br/>
            <a:r>
              <a:t>User Lists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19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SQLite database</a:t>
            </a:r>
            <a:br/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19" y="5349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Whitelist/Blacklist</a:t>
            </a:r>
            <a:br/>
            <a:r>
              <a:t>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7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79" y="1463040"/>
            <a:ext cx="219456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39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3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Weeks 12-15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3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 &amp;</a:t>
            </a:r>
            <a:br/>
            <a:r>
              <a:t>Extension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Chrome MV3 browser</a:t>
            </a:r>
            <a:br/>
            <a:r>
              <a:t>extension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3794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Real-time URL</a:t>
            </a:r>
            <a:br/>
            <a:r>
              <a:t>interception &amp; blocking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39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Next.js admin</a:t>
            </a:r>
            <a:br/>
            <a: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39" y="5349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Analytics &amp; scan</a:t>
            </a:r>
            <a:br/>
            <a:r>
              <a:t>history 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0" y="1463040"/>
            <a:ext cx="219456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Weeks 16-18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Testing &amp;</a:t>
            </a:r>
            <a:br/>
            <a:r>
              <a:t>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Unit &amp; integration</a:t>
            </a:r>
            <a:br/>
            <a:r>
              <a:t>testing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379475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Performance</a:t>
            </a:r>
            <a:br/>
            <a:r>
              <a:t>benchmarking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Docker</a:t>
            </a:r>
            <a:br/>
            <a:r>
              <a:t>containerization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5349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F"/>
                </a:solidFill>
                <a:latin typeface="Calibri"/>
              </a:defRPr>
            </a:pPr>
            <a:r>
              <a:t>• Documentation &amp;</a:t>
            </a:r>
            <a:br/>
            <a:r>
              <a:t>final 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A7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28016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Python 3.14+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Core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REST API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Database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Persistent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ASGI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3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1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2148840"/>
            <a:ext cx="1280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1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19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ML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19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19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19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Pandas / 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19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19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19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Ensemble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19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StandardScaler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19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Feature scaling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5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3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2148840"/>
            <a:ext cx="128016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3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39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React framework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39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Type-safe 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39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Utility-first CSS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39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39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Analytics 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9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Responsive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39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Mobile-ready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79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5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Extension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2148840"/>
            <a:ext cx="1280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5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Chrome MV3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59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Manifest V3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59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WebNavigation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59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URL interception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59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Background SW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59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Service worker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59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Block Page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59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Custom warning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59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URL Caching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59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Performance opt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0" y="1463040"/>
            <a:ext cx="2194560" cy="5029200"/>
          </a:xfrm>
          <a:prstGeom prst="roundRect">
            <a:avLst/>
          </a:prstGeom>
          <a:solidFill>
            <a:srgbClr val="0F1423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2148840"/>
            <a:ext cx="12801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Containerization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Production DB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Caching 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Object storage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ackground_1772189963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08960"/>
            <a:ext cx="3047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F"/>
                </a:solidFill>
                <a:latin typeface="Calibri"/>
              </a:defRPr>
            </a:pPr>
            <a:r>
              <a:t>PhishShield AI  •  Real-Time Adaptive Phishing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F"/>
                </a:solidFill>
                <a:latin typeface="Calibri"/>
              </a:defRPr>
            </a:pPr>
            <a:r>
              <a:t>Built with Python  •  FastAPI  •  Machine Learning  •  Chrome Extension  •  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F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